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3" r:id="rId17"/>
    <p:sldId id="262" r:id="rId16"/>
    <p:sldId id="260" r:id="rId10"/>
    <p:sldId id="261" r:id="rId11"/>
  </p:sldIdLst>
  <p:sldSz cy="5143500" cx="9144000"/>
  <p:notesSz cx="6858000" cy="9144000"/>
  <p:embeddedFontLst>
    <p:embeddedFont>
      <p:font typeface="Manrope SemiBold"/>
      <p:regular r:id="rId12"/>
      <p:bold r:id="rId13"/>
    </p:embeddedFont>
    <p:embeddedFont>
      <p:font typeface="Manrope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font" Target="fonts/ManropeSemiBold-regular.fntdata"/><Relationship Id="rId13" Type="http://schemas.openxmlformats.org/officeDocument/2006/relationships/font" Target="fonts/ManropeSemiBold-bold.fntdata"/><Relationship Id="rId14" Type="http://schemas.openxmlformats.org/officeDocument/2006/relationships/font" Target="fonts/Manrope-regular.fntdata"/><Relationship Id="rId15" Type="http://schemas.openxmlformats.org/officeDocument/2006/relationships/font" Target="fonts/Manrope-bold.fntdata"/><Relationship Id="rId16" Type="http://schemas.openxmlformats.org/officeDocument/2006/relationships/slide" Target="slides/slide6.xml"/><Relationship Id="rId17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0B1F3A"/>
                </a:solidFill>
                <a:latin typeface="Arial"/>
              </a:rPr>
              <a:t>Live run on Snowflake (held-out accounts)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0B1F3A"/>
            </a:solidFill>
          </c:spPr>
          <c:cat>
            <c:strRef>
              <c:f>Sheet1!$A$2:$A$4</c:f>
              <c:strCache>
                <c:ptCount val="3"/>
                <c:pt idx="0">
                  <c:v>Rules only</c:v>
                </c:pt>
                <c:pt idx="1">
                  <c:v>ML only</c:v>
                </c:pt>
                <c:pt idx="2">
                  <c:v>MuleWatch blend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0.303</c:v>
                </c:pt>
                <c:pt idx="1">
                  <c:v>0.988</c:v>
                </c:pt>
                <c:pt idx="2">
                  <c:v>0.978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1A9FD6"/>
            </a:solidFill>
          </c:spPr>
          <c:cat>
            <c:strRef>
              <c:f>Sheet1!$A$2:$A$4</c:f>
              <c:strCache>
                <c:ptCount val="3"/>
                <c:pt idx="0">
                  <c:v>Rules only</c:v>
                </c:pt>
                <c:pt idx="1">
                  <c:v>ML only</c:v>
                </c:pt>
                <c:pt idx="2">
                  <c:v>MuleWatch blend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0.789</c:v>
                </c:pt>
                <c:pt idx="1">
                  <c:v>0.808</c:v>
                </c:pt>
                <c:pt idx="2">
                  <c:v>0.837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800">
                  <a:solidFill>
                    <a:srgbClr val="47556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47556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E5E7EB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475569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47556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MuleWatch is an agentic investigator for UPI mule rings, built entirely on Snowflake.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6.png"/><Relationship Id="rId5" Type="http://schemas.openxmlformats.org/officeDocument/2006/relationships/hyperlink" Target="https://github.com/Gowtham619/mulewatch" TargetMode="External"/><Relationship Id="rId6" Type="http://schemas.openxmlformats.org/officeDocument/2006/relationships/image" Target="../media/image17.png"/><Relationship Id="rId7" Type="http://schemas.openxmlformats.org/officeDocument/2006/relationships/hyperlink" Target="https://app.snowflake.com/PJAPRRT/sa49639/#/streamlit-apps/MULEWATCH.APP.MULEWATCH_APP" TargetMode="External"/><Relationship Id="rId8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xexexe 23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02808" y="3192600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</a:t>
            </a:r>
            <a:r>
              <a:rPr sz="1343" b="1">
                <a:solidFill>
                  <a:srgbClr val="0B1F3A"/>
                </a:solidFill>
                <a:latin typeface="Manrope SemiBold"/>
              </a:rPr>
              <a:t> MuleWatch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02788" y="42501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</a:t>
            </a:r>
            <a:r>
              <a:rPr sz="1343" b="1">
                <a:solidFill>
                  <a:srgbClr val="0B1F3A"/>
                </a:solidFill>
                <a:latin typeface="Manrope SemiBold"/>
              </a:rPr>
              <a:t> Domain-Specific AI Copilot (BFSI - financial crime)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02798" y="3534656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</a:t>
            </a:r>
            <a:r>
              <a:rPr sz="1343" b="1">
                <a:solidFill>
                  <a:srgbClr val="0B1F3A"/>
                </a:solidFill>
                <a:latin typeface="Manrope SemiBold"/>
              </a:rPr>
              <a:t> Gowtham Amarnath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02788" y="39072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Size :</a:t>
            </a:r>
            <a:r>
              <a:rPr sz="1343" b="1">
                <a:solidFill>
                  <a:srgbClr val="0B1F3A"/>
                </a:solidFill>
                <a:latin typeface="Manrope SemiBold"/>
              </a:rPr>
              <a:t> 1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TextBox 63"/>
          <p:cNvSpPr txBox="1"/>
          <p:nvPr/>
        </p:nvSpPr>
        <p:spPr>
          <a:xfrm>
            <a:off x="365760" y="530352"/>
            <a:ext cx="8412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0B1F3A"/>
                </a:solidFill>
                <a:latin typeface="Arial"/>
              </a:rPr>
              <a:t>Problem: scam money escapes through mule rings within hours</a:t>
            </a:r>
          </a:p>
        </p:txBody>
      </p:sp>
      <p:sp>
        <p:nvSpPr>
          <p:cNvPr id="65" name="card0"/>
          <p:cNvSpPr/>
          <p:nvPr/>
        </p:nvSpPr>
        <p:spPr>
          <a:xfrm>
            <a:off x="365760" y="1115568"/>
            <a:ext cx="4114800" cy="171907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Oval 65"/>
          <p:cNvSpPr/>
          <p:nvPr/>
        </p:nvSpPr>
        <p:spPr>
          <a:xfrm>
            <a:off x="566928" y="1335024"/>
            <a:ext cx="502920" cy="502920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7" name="Picture 66" descr="LuShield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28" y="1455724"/>
            <a:ext cx="261518" cy="261518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234440" y="1298448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B1F3A"/>
                </a:solidFill>
                <a:latin typeface="Arial"/>
              </a:rPr>
              <a:t>Business problem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34440" y="1618488"/>
            <a:ext cx="30632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475569"/>
                </a:solidFill>
                <a:latin typeface="Arial"/>
              </a:rPr>
              <a:t>Proceeds of cyber-fraud (investment, task-job and 'digital arrest' scams) are laundered through networks of mule accounts: collected, layered and cashed out at ATMs or crypto exchanges within hours.</a:t>
            </a:r>
          </a:p>
        </p:txBody>
      </p:sp>
      <p:sp>
        <p:nvSpPr>
          <p:cNvPr id="70" name="card1"/>
          <p:cNvSpPr/>
          <p:nvPr/>
        </p:nvSpPr>
        <p:spPr>
          <a:xfrm>
            <a:off x="4663440" y="1115568"/>
            <a:ext cx="4114800" cy="171907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Oval 70"/>
          <p:cNvSpPr/>
          <p:nvPr/>
        </p:nvSpPr>
        <p:spPr>
          <a:xfrm>
            <a:off x="4864608" y="1335024"/>
            <a:ext cx="502920" cy="502920"/>
          </a:xfrm>
          <a:prstGeom prst="ellipse">
            <a:avLst/>
          </a:prstGeom>
          <a:solidFill>
            <a:srgbClr val="1A9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2" name="Picture 71" descr="Lu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5308" y="1455724"/>
            <a:ext cx="261518" cy="261518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5532120" y="1298448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B1F3A"/>
                </a:solidFill>
                <a:latin typeface="Arial"/>
              </a:rPr>
              <a:t>Target user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532120" y="1618488"/>
            <a:ext cx="30632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475569"/>
                </a:solidFill>
                <a:latin typeface="Arial"/>
              </a:rPr>
              <a:t>Financial Crime Unit analysts and the Principal Officer's team at bank GCCs, who investigate alerts and file Suspicious Transaction Reports (STRs).</a:t>
            </a:r>
          </a:p>
        </p:txBody>
      </p:sp>
      <p:sp>
        <p:nvSpPr>
          <p:cNvPr id="75" name="card2"/>
          <p:cNvSpPr/>
          <p:nvPr/>
        </p:nvSpPr>
        <p:spPr>
          <a:xfrm>
            <a:off x="365760" y="2990087"/>
            <a:ext cx="4114800" cy="171907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Oval 75"/>
          <p:cNvSpPr/>
          <p:nvPr/>
        </p:nvSpPr>
        <p:spPr>
          <a:xfrm>
            <a:off x="566928" y="3209544"/>
            <a:ext cx="502920" cy="502920"/>
          </a:xfrm>
          <a:prstGeom prst="ellipse">
            <a:avLst/>
          </a:prstGeom>
          <a:solidFill>
            <a:srgbClr val="E88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7" name="Picture 76" descr="LuC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628" y="3330244"/>
            <a:ext cx="261518" cy="26151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1234440" y="3172968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B1F3A"/>
                </a:solidFill>
                <a:latin typeface="Arial"/>
              </a:rPr>
              <a:t>Pain today vs MuleWatch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34440" y="3493007"/>
            <a:ext cx="30632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475569"/>
                </a:solidFill>
                <a:latin typeface="Arial"/>
              </a:rPr>
              <a:t>Rule alerts are mostly noise (28-36% precision in our baseline) and every case is stitched together by hand. MuleWatch finds the whole ring, assembles the evidence and drafts a cited STR in minutes.</a:t>
            </a:r>
          </a:p>
        </p:txBody>
      </p:sp>
      <p:sp>
        <p:nvSpPr>
          <p:cNvPr id="80" name="card3"/>
          <p:cNvSpPr/>
          <p:nvPr/>
        </p:nvSpPr>
        <p:spPr>
          <a:xfrm>
            <a:off x="4663440" y="2990087"/>
            <a:ext cx="4114800" cy="171907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Oval 80"/>
          <p:cNvSpPr/>
          <p:nvPr/>
        </p:nvSpPr>
        <p:spPr>
          <a:xfrm>
            <a:off x="4864608" y="3209544"/>
            <a:ext cx="502920" cy="50292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2" name="Picture 81" descr="LuLandm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5308" y="3330244"/>
            <a:ext cx="261518" cy="261518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5532120" y="3172968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B1F3A"/>
                </a:solidFill>
                <a:latin typeface="Arial"/>
              </a:rPr>
              <a:t>Industry context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532120" y="3493007"/>
            <a:ext cx="30632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475569"/>
                </a:solidFill>
                <a:latin typeface="Arial"/>
              </a:rPr>
              <a:t>Indian BFSI: real-time UPI / IMPS payments, KYC and PMLA reporting duties, and victim complaints via the 1930 helpline. Speed decides whether funds can be frozen before withdrawal.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TextBox 69"/>
          <p:cNvSpPr txBox="1"/>
          <p:nvPr/>
        </p:nvSpPr>
        <p:spPr>
          <a:xfrm>
            <a:off x="365760" y="530352"/>
            <a:ext cx="8412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0B1F3A"/>
                </a:solidFill>
                <a:latin typeface="Arial"/>
              </a:rPr>
              <a:t>MuleWatch: from suspicious alert to approved STR in minutes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65760" y="1143000"/>
            <a:ext cx="1883664" cy="265176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987552" y="1325880"/>
            <a:ext cx="640080" cy="64008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3" name="Picture 72" descr="LuRa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171" y="1479499"/>
            <a:ext cx="332841" cy="332841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502920" y="2103120"/>
            <a:ext cx="1609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0B1F3A"/>
                </a:solidFill>
                <a:latin typeface="Arial"/>
              </a:rPr>
              <a:t>01  Detect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30352" y="2450592"/>
            <a:ext cx="15544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475569"/>
                </a:solidFill>
                <a:latin typeface="Arial"/>
              </a:rPr>
              <a:t>Dynamic Tables compute 30-day behaviour. Rules, an ML model and a money + device graph find whole mule rings.</a:t>
            </a:r>
          </a:p>
        </p:txBody>
      </p:sp>
      <p:sp>
        <p:nvSpPr>
          <p:cNvPr id="76" name="Right Arrow 75"/>
          <p:cNvSpPr/>
          <p:nvPr/>
        </p:nvSpPr>
        <p:spPr>
          <a:xfrm>
            <a:off x="2295144" y="2331720"/>
            <a:ext cx="201168" cy="237744"/>
          </a:xfrm>
          <a:prstGeom prst="rightArrow">
            <a:avLst/>
          </a:prstGeom>
          <a:solidFill>
            <a:srgbClr val="1A9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2542032" y="1143000"/>
            <a:ext cx="1883664" cy="265176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Oval 77"/>
          <p:cNvSpPr/>
          <p:nvPr/>
        </p:nvSpPr>
        <p:spPr>
          <a:xfrm>
            <a:off x="3163824" y="1325880"/>
            <a:ext cx="640080" cy="640080"/>
          </a:xfrm>
          <a:prstGeom prst="ellipse">
            <a:avLst/>
          </a:prstGeom>
          <a:solidFill>
            <a:srgbClr val="1A9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9" name="Picture 78" descr="Lu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7443" y="1479499"/>
            <a:ext cx="332841" cy="332841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2679191" y="2103120"/>
            <a:ext cx="1609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0B1F3A"/>
                </a:solidFill>
                <a:latin typeface="Arial"/>
              </a:rPr>
              <a:t>02  Investigate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06624" y="2450592"/>
            <a:ext cx="15544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475569"/>
                </a:solidFill>
                <a:latin typeface="Arial"/>
              </a:rPr>
              <a:t>The investigator agent builds an evidence pack from 8 sources: money trail, dwell time, devices, complaints, KYC, media.</a:t>
            </a:r>
          </a:p>
        </p:txBody>
      </p:sp>
      <p:sp>
        <p:nvSpPr>
          <p:cNvPr id="82" name="Right Arrow 81"/>
          <p:cNvSpPr/>
          <p:nvPr/>
        </p:nvSpPr>
        <p:spPr>
          <a:xfrm>
            <a:off x="4471416" y="2331720"/>
            <a:ext cx="201168" cy="237744"/>
          </a:xfrm>
          <a:prstGeom prst="rightArrow">
            <a:avLst/>
          </a:prstGeom>
          <a:solidFill>
            <a:srgbClr val="1A9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4718304" y="1143000"/>
            <a:ext cx="1883664" cy="265176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Oval 83"/>
          <p:cNvSpPr/>
          <p:nvPr/>
        </p:nvSpPr>
        <p:spPr>
          <a:xfrm>
            <a:off x="5340096" y="1325880"/>
            <a:ext cx="640080" cy="64008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5" name="Picture 84" descr="LuFileTex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3715" y="1479499"/>
            <a:ext cx="332841" cy="332841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4855464" y="2103120"/>
            <a:ext cx="1609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0B1F3A"/>
                </a:solidFill>
                <a:latin typeface="Arial"/>
              </a:rPr>
              <a:t>03  Draft the STR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882896" y="2450592"/>
            <a:ext cx="15544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475569"/>
                </a:solidFill>
                <a:latin typeface="Arial"/>
              </a:rPr>
              <a:t>The compliance agent retrieves policy with Cortex Search, drafts the STR with clause citations and self-checks it.</a:t>
            </a:r>
          </a:p>
        </p:txBody>
      </p:sp>
      <p:sp>
        <p:nvSpPr>
          <p:cNvPr id="88" name="Right Arrow 87"/>
          <p:cNvSpPr/>
          <p:nvPr/>
        </p:nvSpPr>
        <p:spPr>
          <a:xfrm>
            <a:off x="6647688" y="2331720"/>
            <a:ext cx="201168" cy="237744"/>
          </a:xfrm>
          <a:prstGeom prst="rightArrow">
            <a:avLst/>
          </a:prstGeom>
          <a:solidFill>
            <a:srgbClr val="1A9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6894576" y="1143000"/>
            <a:ext cx="1883664" cy="265176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Oval 89"/>
          <p:cNvSpPr/>
          <p:nvPr/>
        </p:nvSpPr>
        <p:spPr>
          <a:xfrm>
            <a:off x="7516368" y="1325880"/>
            <a:ext cx="640080" cy="640080"/>
          </a:xfrm>
          <a:prstGeom prst="ellipse">
            <a:avLst/>
          </a:prstGeom>
          <a:solidFill>
            <a:srgbClr val="1A9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" name="Picture 90" descr="LuRefreshC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9987" y="1479499"/>
            <a:ext cx="332841" cy="332841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7031736" y="2103120"/>
            <a:ext cx="1609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0B1F3A"/>
                </a:solidFill>
                <a:latin typeface="Arial"/>
              </a:rPr>
              <a:t>04  Learn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059168" y="2450592"/>
            <a:ext cx="15544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475569"/>
                </a:solidFill>
                <a:latin typeface="Arial"/>
              </a:rPr>
              <a:t>The analyst approves or rejects. Each decision re-weights the rules and retrains the model on a schedule.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65760" y="4023360"/>
            <a:ext cx="8412480" cy="749808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Oval 94"/>
          <p:cNvSpPr/>
          <p:nvPr/>
        </p:nvSpPr>
        <p:spPr>
          <a:xfrm>
            <a:off x="548640" y="4169663"/>
            <a:ext cx="457200" cy="457200"/>
          </a:xfrm>
          <a:prstGeom prst="ellipse">
            <a:avLst/>
          </a:prstGeom>
          <a:solidFill>
            <a:srgbClr val="1A9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6" name="Picture 95" descr="Lu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" y="4279392"/>
            <a:ext cx="237744" cy="237744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1188720" y="4069080"/>
            <a:ext cx="7406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Human-in-the-loop by design: </a:t>
            </a:r>
            <a:r>
              <a:rPr sz="1100" b="0" i="0">
                <a:solidFill>
                  <a:srgbClr val="FFFFFF"/>
                </a:solidFill>
                <a:latin typeface="Arial"/>
              </a:rPr>
              <a:t>the AI drafts, a named reviewer decides. Every AI action is written to an audit log, and personal data is masked for analysts.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TextBox 74"/>
          <p:cNvSpPr txBox="1"/>
          <p:nvPr/>
        </p:nvSpPr>
        <p:spPr>
          <a:xfrm>
            <a:off x="365760" y="530352"/>
            <a:ext cx="8412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0B1F3A"/>
                </a:solidFill>
                <a:latin typeface="Arial"/>
              </a:rPr>
              <a:t>Architecture: one Snowflake-native data flow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65760" y="1024128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1A9FD6"/>
                </a:solidFill>
                <a:latin typeface="Arial"/>
              </a:rPr>
              <a:t>DATA SOURCES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65760" y="1325880"/>
            <a:ext cx="1463040" cy="905255"/>
          </a:xfrm>
          <a:prstGeom prst="roundRect">
            <a:avLst>
              <a:gd name="adj" fmla="val 10000"/>
            </a:avLst>
          </a:prstGeom>
          <a:solidFill>
            <a:srgbClr val="EAF5FB"/>
          </a:solidFill>
          <a:ln w="9525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0B1F3A"/>
                </a:solidFill>
                <a:latin typeface="Arial"/>
              </a:rPr>
              <a:t>Structured</a:t>
            </a:r>
          </a:p>
          <a:p>
            <a:pPr algn="l">
              <a:spcAft>
                <a:spcPts val="100"/>
              </a:spcAft>
            </a:pPr>
            <a:r>
              <a:rPr sz="800" b="0" i="0">
                <a:solidFill>
                  <a:srgbClr val="475569"/>
                </a:solidFill>
                <a:latin typeface="Arial"/>
              </a:rPr>
              <a:t>Ledger, accounts, customers, victim complaints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65760" y="2322576"/>
            <a:ext cx="1463040" cy="905255"/>
          </a:xfrm>
          <a:prstGeom prst="roundRect">
            <a:avLst>
              <a:gd name="adj" fmla="val 10000"/>
            </a:avLst>
          </a:prstGeom>
          <a:solidFill>
            <a:srgbClr val="EAF5FB"/>
          </a:solidFill>
          <a:ln w="9525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0B1F3A"/>
                </a:solidFill>
                <a:latin typeface="Arial"/>
              </a:rPr>
              <a:t>Semi-structured (JSON)</a:t>
            </a:r>
          </a:p>
          <a:p>
            <a:pPr algn="l">
              <a:spcAft>
                <a:spcPts val="100"/>
              </a:spcAft>
            </a:pPr>
            <a:r>
              <a:rPr sz="800" b="0" i="0">
                <a:solidFill>
                  <a:srgbClr val="475569"/>
                </a:solidFill>
                <a:latin typeface="Arial"/>
              </a:rPr>
              <a:t>Device telemetry, payment messages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65760" y="3319272"/>
            <a:ext cx="1463040" cy="905255"/>
          </a:xfrm>
          <a:prstGeom prst="roundRect">
            <a:avLst>
              <a:gd name="adj" fmla="val 10000"/>
            </a:avLst>
          </a:prstGeom>
          <a:solidFill>
            <a:srgbClr val="EAF5FB"/>
          </a:solidFill>
          <a:ln w="9525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0B1F3A"/>
                </a:solidFill>
                <a:latin typeface="Arial"/>
              </a:rPr>
              <a:t>Unstructured</a:t>
            </a:r>
          </a:p>
          <a:p>
            <a:pPr algn="l">
              <a:spcAft>
                <a:spcPts val="100"/>
              </a:spcAft>
            </a:pPr>
            <a:r>
              <a:rPr sz="800" b="0" i="0">
                <a:solidFill>
                  <a:srgbClr val="475569"/>
                </a:solidFill>
                <a:latin typeface="Arial"/>
              </a:rPr>
              <a:t>KYC notes, news feed, policy &amp; SOP documents</a:t>
            </a:r>
          </a:p>
        </p:txBody>
      </p:sp>
      <p:sp>
        <p:nvSpPr>
          <p:cNvPr id="80" name="Right Arrow 79"/>
          <p:cNvSpPr/>
          <p:nvPr/>
        </p:nvSpPr>
        <p:spPr>
          <a:xfrm>
            <a:off x="1865376" y="2665476"/>
            <a:ext cx="201168" cy="237744"/>
          </a:xfrm>
          <a:prstGeom prst="rightArrow">
            <a:avLst/>
          </a:prstGeom>
          <a:solidFill>
            <a:srgbClr val="1A9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103120" y="1024128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1A9FD6"/>
                </a:solidFill>
                <a:latin typeface="Arial"/>
              </a:rPr>
              <a:t>FEATURES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103120" y="1325880"/>
            <a:ext cx="1463040" cy="2898648"/>
          </a:xfrm>
          <a:prstGeom prst="roundRect">
            <a:avLst>
              <a:gd name="adj" fmla="val 10000"/>
            </a:avLst>
          </a:prstGeom>
          <a:solidFill>
            <a:srgbClr val="EAF5FB"/>
          </a:solidFill>
          <a:ln w="9525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0B1F3A"/>
                </a:solidFill>
                <a:latin typeface="Arial"/>
              </a:rPr>
              <a:t>Dynamic Tables</a:t>
            </a:r>
          </a:p>
          <a:p>
            <a:pPr algn="l">
              <a:spcAft>
                <a:spcPts val="100"/>
              </a:spcAft>
            </a:pPr>
            <a:r>
              <a:rPr sz="800" b="0" i="0">
                <a:solidFill>
                  <a:srgbClr val="475569"/>
                </a:solidFill>
                <a:latin typeface="Arial"/>
              </a:rPr>
              <a:t>TXN_ENRICHED
DEVICE_SHARING
CIRCULAR_FLOWS
PAYMENT_MSG_FLAT
ACCOUNT_FEATURES
Auto-refresh every 15 min</a:t>
            </a:r>
          </a:p>
        </p:txBody>
      </p:sp>
      <p:sp>
        <p:nvSpPr>
          <p:cNvPr id="83" name="Right Arrow 82"/>
          <p:cNvSpPr/>
          <p:nvPr/>
        </p:nvSpPr>
        <p:spPr>
          <a:xfrm>
            <a:off x="3602736" y="2665476"/>
            <a:ext cx="201168" cy="237744"/>
          </a:xfrm>
          <a:prstGeom prst="rightArrow">
            <a:avLst/>
          </a:prstGeom>
          <a:solidFill>
            <a:srgbClr val="1A9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840480" y="1024128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1A9FD6"/>
                </a:solidFill>
                <a:latin typeface="Arial"/>
              </a:rPr>
              <a:t>DETECTION  (Snowpark)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840480" y="1325880"/>
            <a:ext cx="1463040" cy="656082"/>
          </a:xfrm>
          <a:prstGeom prst="roundRect">
            <a:avLst>
              <a:gd name="adj" fmla="val 10000"/>
            </a:avLst>
          </a:prstGeom>
          <a:solidFill>
            <a:srgbClr val="EAF5FB"/>
          </a:solidFill>
          <a:ln w="9525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0B1F3A"/>
                </a:solidFill>
                <a:latin typeface="Arial"/>
              </a:rPr>
              <a:t>Rules engine</a:t>
            </a:r>
          </a:p>
          <a:p>
            <a:pPr algn="l">
              <a:spcAft>
                <a:spcPts val="100"/>
              </a:spcAft>
            </a:pPr>
            <a:r>
              <a:rPr sz="800" b="0" i="0">
                <a:solidFill>
                  <a:srgbClr val="475569"/>
                </a:solidFill>
                <a:latin typeface="Arial"/>
              </a:rPr>
              <a:t>RULE_CONFIG table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840480" y="2073402"/>
            <a:ext cx="1463040" cy="656082"/>
          </a:xfrm>
          <a:prstGeom prst="roundRect">
            <a:avLst>
              <a:gd name="adj" fmla="val 10000"/>
            </a:avLst>
          </a:prstGeom>
          <a:solidFill>
            <a:srgbClr val="EAF5FB"/>
          </a:solidFill>
          <a:ln w="9525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0B1F3A"/>
                </a:solidFill>
                <a:latin typeface="Arial"/>
              </a:rPr>
              <a:t>ML classifier</a:t>
            </a:r>
          </a:p>
          <a:p>
            <a:pPr algn="l">
              <a:spcAft>
                <a:spcPts val="100"/>
              </a:spcAft>
            </a:pPr>
            <a:r>
              <a:rPr sz="800" b="0" i="0">
                <a:solidFill>
                  <a:srgbClr val="475569"/>
                </a:solidFill>
                <a:latin typeface="Arial"/>
              </a:rPr>
              <a:t>Model Registry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840480" y="2820924"/>
            <a:ext cx="1463040" cy="656082"/>
          </a:xfrm>
          <a:prstGeom prst="roundRect">
            <a:avLst>
              <a:gd name="adj" fmla="val 10000"/>
            </a:avLst>
          </a:prstGeom>
          <a:solidFill>
            <a:srgbClr val="EAF5FB"/>
          </a:solidFill>
          <a:ln w="9525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0B1F3A"/>
                </a:solidFill>
                <a:latin typeface="Arial"/>
              </a:rPr>
              <a:t>Graph rings</a:t>
            </a:r>
          </a:p>
          <a:p>
            <a:pPr algn="l">
              <a:spcAft>
                <a:spcPts val="100"/>
              </a:spcAft>
            </a:pPr>
            <a:r>
              <a:rPr sz="800" b="0" i="0">
                <a:solidFill>
                  <a:srgbClr val="475569"/>
                </a:solidFill>
                <a:latin typeface="Arial"/>
              </a:rPr>
              <a:t>NetworkX components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840480" y="3568446"/>
            <a:ext cx="1463040" cy="656082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CASES</a:t>
            </a:r>
          </a:p>
          <a:p>
            <a:pPr algn="l">
              <a:spcAft>
                <a:spcPts val="100"/>
              </a:spcAft>
            </a:pPr>
            <a:r>
              <a:rPr sz="800" b="0" i="0">
                <a:solidFill>
                  <a:srgbClr val="FFFFFF"/>
                </a:solidFill>
                <a:latin typeface="Arial"/>
              </a:rPr>
              <a:t>Blended score</a:t>
            </a:r>
          </a:p>
        </p:txBody>
      </p:sp>
      <p:sp>
        <p:nvSpPr>
          <p:cNvPr id="89" name="Right Arrow 88"/>
          <p:cNvSpPr/>
          <p:nvPr/>
        </p:nvSpPr>
        <p:spPr>
          <a:xfrm>
            <a:off x="5340096" y="2665476"/>
            <a:ext cx="201168" cy="237744"/>
          </a:xfrm>
          <a:prstGeom prst="rightArrow">
            <a:avLst/>
          </a:prstGeom>
          <a:solidFill>
            <a:srgbClr val="1A9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577840" y="1024128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1A9FD6"/>
                </a:solidFill>
                <a:latin typeface="Arial"/>
              </a:rPr>
              <a:t>CORTEX AI AGENTS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5577840" y="1325880"/>
            <a:ext cx="1463040" cy="656082"/>
          </a:xfrm>
          <a:prstGeom prst="roundRect">
            <a:avLst>
              <a:gd name="adj" fmla="val 10000"/>
            </a:avLst>
          </a:prstGeom>
          <a:solidFill>
            <a:srgbClr val="EAF5FB"/>
          </a:solidFill>
          <a:ln w="9525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0B1F3A"/>
                </a:solidFill>
                <a:latin typeface="Arial"/>
              </a:rPr>
              <a:t>Enrichment</a:t>
            </a:r>
          </a:p>
          <a:p>
            <a:pPr algn="l">
              <a:spcAft>
                <a:spcPts val="100"/>
              </a:spcAft>
            </a:pPr>
            <a:r>
              <a:rPr sz="800" b="0" i="0">
                <a:solidFill>
                  <a:srgbClr val="475569"/>
                </a:solidFill>
                <a:latin typeface="Arial"/>
              </a:rPr>
              <a:t>AI_COMPLETE, AI_CLASSIFY, AI_FILTER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577840" y="2073402"/>
            <a:ext cx="1463040" cy="656082"/>
          </a:xfrm>
          <a:prstGeom prst="roundRect">
            <a:avLst>
              <a:gd name="adj" fmla="val 10000"/>
            </a:avLst>
          </a:prstGeom>
          <a:solidFill>
            <a:srgbClr val="EAF5FB"/>
          </a:solidFill>
          <a:ln w="9525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0B1F3A"/>
                </a:solidFill>
                <a:latin typeface="Arial"/>
              </a:rPr>
              <a:t>Triage agent</a:t>
            </a:r>
          </a:p>
          <a:p>
            <a:pPr algn="l">
              <a:spcAft>
                <a:spcPts val="100"/>
              </a:spcAft>
            </a:pPr>
            <a:r>
              <a:rPr sz="800" b="0" i="0">
                <a:solidFill>
                  <a:srgbClr val="475569"/>
                </a:solidFill>
                <a:latin typeface="Arial"/>
              </a:rPr>
              <a:t>Priority + SLA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577840" y="2820924"/>
            <a:ext cx="1463040" cy="656082"/>
          </a:xfrm>
          <a:prstGeom prst="roundRect">
            <a:avLst>
              <a:gd name="adj" fmla="val 10000"/>
            </a:avLst>
          </a:prstGeom>
          <a:solidFill>
            <a:srgbClr val="EAF5FB"/>
          </a:solidFill>
          <a:ln w="9525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0B1F3A"/>
                </a:solidFill>
                <a:latin typeface="Arial"/>
              </a:rPr>
              <a:t>Investigator agent</a:t>
            </a:r>
          </a:p>
          <a:p>
            <a:pPr algn="l">
              <a:spcAft>
                <a:spcPts val="100"/>
              </a:spcAft>
            </a:pPr>
            <a:r>
              <a:rPr sz="800" b="0" i="0">
                <a:solidFill>
                  <a:srgbClr val="475569"/>
                </a:solidFill>
                <a:latin typeface="Arial"/>
              </a:rPr>
              <a:t>8-source evidence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5577840" y="3568446"/>
            <a:ext cx="1463040" cy="656082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Compliance agent</a:t>
            </a:r>
          </a:p>
          <a:p>
            <a:pPr algn="l">
              <a:spcAft>
                <a:spcPts val="100"/>
              </a:spcAft>
            </a:pPr>
            <a:r>
              <a:rPr sz="800" b="0" i="0">
                <a:solidFill>
                  <a:srgbClr val="FFFFFF"/>
                </a:solidFill>
                <a:latin typeface="Arial"/>
              </a:rPr>
              <a:t>STR + Cortex Search</a:t>
            </a:r>
          </a:p>
        </p:txBody>
      </p:sp>
      <p:sp>
        <p:nvSpPr>
          <p:cNvPr id="95" name="Right Arrow 94"/>
          <p:cNvSpPr/>
          <p:nvPr/>
        </p:nvSpPr>
        <p:spPr>
          <a:xfrm>
            <a:off x="7077456" y="2665476"/>
            <a:ext cx="201168" cy="237744"/>
          </a:xfrm>
          <a:prstGeom prst="rightArrow">
            <a:avLst/>
          </a:prstGeom>
          <a:solidFill>
            <a:srgbClr val="1A9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0" y="1024128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1A9FD6"/>
                </a:solidFill>
                <a:latin typeface="Arial"/>
              </a:rPr>
              <a:t>EXPERIENCE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7315200" y="1325880"/>
            <a:ext cx="1463040" cy="905255"/>
          </a:xfrm>
          <a:prstGeom prst="roundRect">
            <a:avLst>
              <a:gd name="adj" fmla="val 10000"/>
            </a:avLst>
          </a:prstGeom>
          <a:solidFill>
            <a:srgbClr val="EAF5FB"/>
          </a:solidFill>
          <a:ln w="9525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0B1F3A"/>
                </a:solidFill>
                <a:latin typeface="Arial"/>
              </a:rPr>
              <a:t>Investigator app</a:t>
            </a:r>
          </a:p>
          <a:p>
            <a:pPr algn="l">
              <a:spcAft>
                <a:spcPts val="100"/>
              </a:spcAft>
            </a:pPr>
            <a:r>
              <a:rPr sz="800" b="0" i="0">
                <a:solidFill>
                  <a:srgbClr val="475569"/>
                </a:solidFill>
                <a:latin typeface="Arial"/>
              </a:rPr>
              <a:t>Streamlit in Snowflake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7315200" y="2322576"/>
            <a:ext cx="1463040" cy="905255"/>
          </a:xfrm>
          <a:prstGeom prst="roundRect">
            <a:avLst>
              <a:gd name="adj" fmla="val 10000"/>
            </a:avLst>
          </a:prstGeom>
          <a:solidFill>
            <a:srgbClr val="EAF5FB"/>
          </a:solidFill>
          <a:ln w="9525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0B1F3A"/>
                </a:solidFill>
                <a:latin typeface="Arial"/>
              </a:rPr>
              <a:t>Copilot</a:t>
            </a:r>
          </a:p>
          <a:p>
            <a:pPr algn="l">
              <a:spcAft>
                <a:spcPts val="100"/>
              </a:spcAft>
            </a:pPr>
            <a:r>
              <a:rPr sz="800" b="0" i="0">
                <a:solidFill>
                  <a:srgbClr val="475569"/>
                </a:solidFill>
                <a:latin typeface="Arial"/>
              </a:rPr>
              <a:t>Cortex Agent + Analyst on a Semantic View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7315200" y="3319272"/>
            <a:ext cx="1463040" cy="905255"/>
          </a:xfrm>
          <a:prstGeom prst="roundRect">
            <a:avLst>
              <a:gd name="adj" fmla="val 10000"/>
            </a:avLst>
          </a:prstGeom>
          <a:solidFill>
            <a:srgbClr val="EAF5FB"/>
          </a:solidFill>
          <a:ln w="9525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0B1F3A"/>
                </a:solidFill>
                <a:latin typeface="Arial"/>
              </a:rPr>
              <a:t>Automation</a:t>
            </a:r>
          </a:p>
          <a:p>
            <a:pPr algn="l">
              <a:spcAft>
                <a:spcPts val="100"/>
              </a:spcAft>
            </a:pPr>
            <a:r>
              <a:rPr sz="800" b="0" i="0">
                <a:solidFill>
                  <a:srgbClr val="475569"/>
                </a:solidFill>
                <a:latin typeface="Arial"/>
              </a:rPr>
              <a:t>Tasks DAG, every 15 min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65760" y="4370832"/>
            <a:ext cx="8412480" cy="420624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9525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Arial"/>
              </a:rPr>
              <a:t>Learning loop  </a:t>
            </a:r>
            <a:r>
              <a:rPr sz="900" b="0" i="0">
                <a:solidFill>
                  <a:srgbClr val="475569"/>
                </a:solidFill>
                <a:latin typeface="Arial"/>
              </a:rPr>
              <a:t>analyst decision  &gt;  FEEDBACK_LABELS  &gt;  TUNE_RULES + model retrain (Tasks)     </a:t>
            </a:r>
            <a:r>
              <a:rPr sz="900" b="1" i="0">
                <a:solidFill>
                  <a:srgbClr val="0B1F3A"/>
                </a:solidFill>
                <a:latin typeface="Arial"/>
              </a:rPr>
              <a:t>Governance  </a:t>
            </a:r>
            <a:r>
              <a:rPr sz="900" b="0" i="0">
                <a:solidFill>
                  <a:srgbClr val="475569"/>
                </a:solidFill>
                <a:latin typeface="Arial"/>
              </a:rPr>
              <a:t>tag-based PII masking, AI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TextBox 69"/>
          <p:cNvSpPr txBox="1"/>
          <p:nvPr/>
        </p:nvSpPr>
        <p:spPr>
          <a:xfrm>
            <a:off x="365760" y="530352"/>
            <a:ext cx="8412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0B1F3A"/>
                </a:solidFill>
                <a:latin typeface="Arial"/>
              </a:rPr>
              <a:t>How CoCo CLI skills and the modules plug together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1024128"/>
            <a:ext cx="3931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1A9FD6"/>
                </a:solidFill>
                <a:latin typeface="Arial"/>
              </a:rPr>
              <a:t>COCO CLI PROJECT SKILLS  (.cortex/skills)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65760" y="1325880"/>
            <a:ext cx="3931920" cy="98755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Oval 72"/>
          <p:cNvSpPr/>
          <p:nvPr/>
        </p:nvSpPr>
        <p:spPr>
          <a:xfrm>
            <a:off x="530352" y="1554480"/>
            <a:ext cx="502920" cy="50292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4" name="Picture 73" descr="Lu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" y="1675180"/>
            <a:ext cx="261518" cy="261518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1188720" y="1453895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B1F3A"/>
                </a:solidFill>
                <a:latin typeface="Arial"/>
              </a:rPr>
              <a:t>$mulewatch-deploy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88720" y="1728216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475569"/>
                </a:solidFill>
                <a:latin typeface="Arial"/>
              </a:rPr>
              <a:t>Runs the SQL scripts in order, uploads the code, and fixes syntax drift between Snowflake releases.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65760" y="2450591"/>
            <a:ext cx="3931920" cy="98755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Oval 77"/>
          <p:cNvSpPr/>
          <p:nvPr/>
        </p:nvSpPr>
        <p:spPr>
          <a:xfrm>
            <a:off x="530352" y="2679191"/>
            <a:ext cx="502920" cy="50292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9" name="Picture 78" descr="Lu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" y="2799892"/>
            <a:ext cx="261518" cy="261518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1188720" y="2578608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B1F3A"/>
                </a:solidFill>
                <a:latin typeface="Arial"/>
              </a:rPr>
              <a:t>$mulewatch-investigate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88720" y="2852927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475569"/>
                </a:solidFill>
                <a:latin typeface="Arial"/>
              </a:rPr>
              <a:t>Works a case from the terminal: evidence, STR quality checks, recommended decision for a human.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65760" y="3575304"/>
            <a:ext cx="3931920" cy="98755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Oval 82"/>
          <p:cNvSpPr/>
          <p:nvPr/>
        </p:nvSpPr>
        <p:spPr>
          <a:xfrm>
            <a:off x="530352" y="3803904"/>
            <a:ext cx="502920" cy="50292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4" name="Picture 83" descr="Lu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" y="3924604"/>
            <a:ext cx="261518" cy="26151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1188720" y="3703320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B1F3A"/>
                </a:solidFill>
                <a:latin typeface="Arial"/>
              </a:rPr>
              <a:t>$mulewatch-add-typology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88720" y="3977640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475569"/>
                </a:solidFill>
                <a:latin typeface="Arial"/>
              </a:rPr>
              <a:t>Adds a new crime pattern across data, features, rules, policies and evaluation, tested offline first.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72000" y="1024128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1A9FD6"/>
                </a:solidFill>
                <a:latin typeface="Arial"/>
              </a:rPr>
              <a:t>MODULES  (each one swappable)</a:t>
            </a:r>
          </a:p>
        </p:txBody>
      </p:sp>
      <p:graphicFrame>
        <p:nvGraphicFramePr>
          <p:cNvPr id="88" name="Table 87"/>
          <p:cNvGraphicFramePr>
            <a:graphicFrameLocks noGrp="1"/>
          </p:cNvGraphicFramePr>
          <p:nvPr/>
        </p:nvGraphicFramePr>
        <p:xfrm>
          <a:off x="4572000" y="1325880"/>
          <a:ext cx="420624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463040"/>
                <a:gridCol w="1920240"/>
              </a:tblGrid>
              <a:tr h="428625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Module</a:t>
                      </a:r>
                    </a:p>
                  </a:txBody>
                  <a:tcPr marL="54864" marR="54864" marT="18288" marB="18288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Snowflake feature</a:t>
                      </a:r>
                    </a:p>
                  </a:txBody>
                  <a:tcPr marL="54864" marR="54864" marT="18288" marB="18288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Extend by</a:t>
                      </a:r>
                    </a:p>
                  </a:txBody>
                  <a:tcPr marL="54864" marR="54864" marT="18288" marB="18288" anchor="ctr">
                    <a:solidFill>
                      <a:srgbClr val="0B1F3A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B1F3A"/>
                          </a:solidFill>
                          <a:latin typeface="Arial"/>
                        </a:rPr>
                        <a:t>Ingestion</a:t>
                      </a:r>
                    </a:p>
                  </a:txBody>
                  <a:tcPr marL="54864" marR="54864" marT="18288" marB="18288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75569"/>
                          </a:solidFill>
                          <a:latin typeface="Arial"/>
                        </a:rPr>
                        <a:t>Tables + VARIANT</a:t>
                      </a:r>
                    </a:p>
                  </a:txBody>
                  <a:tcPr marL="54864" marR="54864" marT="18288" marB="18288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75569"/>
                          </a:solidFill>
                          <a:latin typeface="Arial"/>
                        </a:rPr>
                        <a:t>Pointing at core banking / complaint feeds</a:t>
                      </a:r>
                    </a:p>
                  </a:txBody>
                  <a:tcPr marL="54864" marR="54864" marT="18288" marB="18288" anchor="ctr">
                    <a:solidFill>
                      <a:srgbClr val="EAF5FB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B1F3A"/>
                          </a:solidFill>
                          <a:latin typeface="Arial"/>
                        </a:rPr>
                        <a:t>Features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75569"/>
                          </a:solidFill>
                          <a:latin typeface="Arial"/>
                        </a:rPr>
                        <a:t>Dynamic Tables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75569"/>
                          </a:solidFill>
                          <a:latin typeface="Arial"/>
                        </a:rPr>
                        <a:t>Adding a column = a new signal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B1F3A"/>
                          </a:solidFill>
                          <a:latin typeface="Arial"/>
                        </a:rPr>
                        <a:t>Rules</a:t>
                      </a:r>
                    </a:p>
                  </a:txBody>
                  <a:tcPr marL="54864" marR="54864" marT="18288" marB="18288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75569"/>
                          </a:solidFill>
                          <a:latin typeface="Arial"/>
                        </a:rPr>
                        <a:t>RULE_CONFIG table</a:t>
                      </a:r>
                    </a:p>
                  </a:txBody>
                  <a:tcPr marL="54864" marR="54864" marT="18288" marB="18288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75569"/>
                          </a:solidFill>
                          <a:latin typeface="Arial"/>
                        </a:rPr>
                        <a:t>Tuning thresholds with no code</a:t>
                      </a:r>
                    </a:p>
                  </a:txBody>
                  <a:tcPr marL="54864" marR="54864" marT="18288" marB="18288" anchor="ctr">
                    <a:solidFill>
                      <a:srgbClr val="EAF5FB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B1F3A"/>
                          </a:solidFill>
                          <a:latin typeface="Arial"/>
                        </a:rPr>
                        <a:t>ML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75569"/>
                          </a:solidFill>
                          <a:latin typeface="Arial"/>
                        </a:rPr>
                        <a:t>Model Registry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75569"/>
                          </a:solidFill>
                          <a:latin typeface="Arial"/>
                        </a:rPr>
                        <a:t>Retraining from analyst feedback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B1F3A"/>
                          </a:solidFill>
                          <a:latin typeface="Arial"/>
                        </a:rPr>
                        <a:t>Agents</a:t>
                      </a:r>
                    </a:p>
                  </a:txBody>
                  <a:tcPr marL="54864" marR="54864" marT="18288" marB="18288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75569"/>
                          </a:solidFill>
                          <a:latin typeface="Arial"/>
                        </a:rPr>
                        <a:t>Python procs + Cortex AI</a:t>
                      </a:r>
                    </a:p>
                  </a:txBody>
                  <a:tcPr marL="54864" marR="54864" marT="18288" marB="18288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75569"/>
                          </a:solidFill>
                          <a:latin typeface="Arial"/>
                        </a:rPr>
                        <a:t>Switching the LLM in APP.CONFIG</a:t>
                      </a:r>
                    </a:p>
                  </a:txBody>
                  <a:tcPr marL="54864" marR="54864" marT="18288" marB="18288" anchor="ctr">
                    <a:solidFill>
                      <a:srgbClr val="EAF5FB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B1F3A"/>
                          </a:solidFill>
                          <a:latin typeface="Arial"/>
                        </a:rPr>
                        <a:t>Copilot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75569"/>
                          </a:solidFill>
                          <a:latin typeface="Arial"/>
                        </a:rPr>
                        <a:t>Cortex Agent + Semantic View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75569"/>
                          </a:solidFill>
                          <a:latin typeface="Arial"/>
                        </a:rPr>
                        <a:t>Adding verified queries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B1F3A"/>
                          </a:solidFill>
                          <a:latin typeface="Arial"/>
                        </a:rPr>
                        <a:t>App &amp; ops</a:t>
                      </a:r>
                    </a:p>
                  </a:txBody>
                  <a:tcPr marL="54864" marR="54864" marT="18288" marB="18288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75569"/>
                          </a:solidFill>
                          <a:latin typeface="Arial"/>
                        </a:rPr>
                        <a:t>Streamlit + Tasks</a:t>
                      </a:r>
                    </a:p>
                  </a:txBody>
                  <a:tcPr marL="54864" marR="54864" marT="18288" marB="18288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75569"/>
                          </a:solidFill>
                          <a:latin typeface="Arial"/>
                        </a:rPr>
                        <a:t>Resuming / suspending the DAG</a:t>
                      </a:r>
                    </a:p>
                  </a:txBody>
                  <a:tcPr marL="54864" marR="54864" marT="18288" marB="18288" anchor="ctr">
                    <a:solidFill>
                      <a:srgbClr val="EA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TextBox 69"/>
          <p:cNvSpPr txBox="1"/>
          <p:nvPr/>
        </p:nvSpPr>
        <p:spPr>
          <a:xfrm>
            <a:off x="365760" y="530352"/>
            <a:ext cx="8412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0B1F3A"/>
                </a:solidFill>
                <a:latin typeface="Arial"/>
              </a:rPr>
              <a:t>Impact: fewer, better alerts and investigations in minutes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65760" y="1051560"/>
            <a:ext cx="1874519" cy="1069848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502920" y="114300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A9FD6"/>
                </a:solidFill>
                <a:latin typeface="Arial"/>
              </a:rPr>
              <a:t>67%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2920" y="1618488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475569"/>
                </a:solidFill>
                <a:latin typeface="Arial"/>
              </a:rPr>
              <a:t>fewer alerts than rules alone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377440" y="1051560"/>
            <a:ext cx="1874519" cy="1069848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2514600" y="114300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A9FD6"/>
                </a:solidFill>
                <a:latin typeface="Arial"/>
              </a:rPr>
              <a:t>97.8%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514600" y="1618488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475569"/>
                </a:solidFill>
                <a:latin typeface="Arial"/>
              </a:rPr>
              <a:t>precision, vs 30.3% for rules only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65760" y="2258568"/>
            <a:ext cx="1874519" cy="1069848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502920" y="2350008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A9FD6"/>
                </a:solidFill>
                <a:latin typeface="Arial"/>
              </a:rPr>
              <a:t>83.7%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2920" y="2825496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475569"/>
                </a:solidFill>
                <a:latin typeface="Arial"/>
              </a:rPr>
              <a:t>recall on held-out mule accounts (rules: 78.9%)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2377440" y="2258568"/>
            <a:ext cx="1874519" cy="1069848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2514600" y="2350008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A9FD6"/>
                </a:solidFill>
                <a:latin typeface="Arial"/>
              </a:rPr>
              <a:t>100%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514600" y="2825496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475569"/>
                </a:solidFill>
                <a:latin typeface="Arial"/>
              </a:rPr>
              <a:t>of held-out rings found as one network</a:t>
            </a:r>
          </a:p>
        </p:txBody>
      </p:sp>
      <p:graphicFrame>
        <p:nvGraphicFramePr>
          <p:cNvPr id="83" name="Chart 82"/>
          <p:cNvGraphicFramePr>
            <a:graphicFrameLocks noGrp="1"/>
          </p:cNvGraphicFramePr>
          <p:nvPr/>
        </p:nvGraphicFramePr>
        <p:xfrm>
          <a:off x="4434840" y="1005840"/>
          <a:ext cx="4343400" cy="237744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84" name="Rounded Rectangle 83"/>
          <p:cNvSpPr/>
          <p:nvPr/>
        </p:nvSpPr>
        <p:spPr>
          <a:xfrm>
            <a:off x="365760" y="356616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Oval 84"/>
          <p:cNvSpPr/>
          <p:nvPr/>
        </p:nvSpPr>
        <p:spPr>
          <a:xfrm>
            <a:off x="502920" y="3685032"/>
            <a:ext cx="384048" cy="384048"/>
          </a:xfrm>
          <a:prstGeom prst="ellipse">
            <a:avLst/>
          </a:prstGeom>
          <a:solidFill>
            <a:srgbClr val="1A9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6" name="Picture 85" descr="Lu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091" y="3777203"/>
            <a:ext cx="199704" cy="199704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978408" y="3712463"/>
            <a:ext cx="20116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Minutes, not hours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21208" y="4114800"/>
            <a:ext cx="24231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First live run: 3 STRs drafted with 100% valid policy citations and 100% of figures traced to evidence.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200400" y="356616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Oval 89"/>
          <p:cNvSpPr/>
          <p:nvPr/>
        </p:nvSpPr>
        <p:spPr>
          <a:xfrm>
            <a:off x="3337560" y="3685032"/>
            <a:ext cx="384048" cy="384048"/>
          </a:xfrm>
          <a:prstGeom prst="ellipse">
            <a:avLst/>
          </a:prstGeom>
          <a:solidFill>
            <a:srgbClr val="1A9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" name="Picture 90" descr="LuTrending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731" y="3777203"/>
            <a:ext cx="199704" cy="199704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3813048" y="3712463"/>
            <a:ext cx="20116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Scales with Snowflake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355848" y="4114800"/>
            <a:ext cx="24231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~0.9M transactions scored on an X-Small warehouse. AI runs only on alerted accounts to control cost.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035040" y="356616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Oval 94"/>
          <p:cNvSpPr/>
          <p:nvPr/>
        </p:nvSpPr>
        <p:spPr>
          <a:xfrm>
            <a:off x="6172200" y="3685032"/>
            <a:ext cx="384048" cy="384048"/>
          </a:xfrm>
          <a:prstGeom prst="ellipse">
            <a:avLst/>
          </a:prstGeom>
          <a:solidFill>
            <a:srgbClr val="1A9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6" name="Picture 95" descr="Lu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4371" y="3777203"/>
            <a:ext cx="199704" cy="199704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6647688" y="3712463"/>
            <a:ext cx="20116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Beyond the demo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190488" y="4114800"/>
            <a:ext cx="24231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New typologies via a CoCo skill; the same pattern fits insurance and trade fraud; live feeds via Snowpipe.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TextBox 79"/>
          <p:cNvSpPr txBox="1"/>
          <p:nvPr/>
        </p:nvSpPr>
        <p:spPr>
          <a:xfrm>
            <a:off x="365760" y="530352"/>
            <a:ext cx="8412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0B1F3A"/>
                </a:solidFill>
                <a:latin typeface="Arial"/>
              </a:rPr>
              <a:t>See it live: demo flow and links</a:t>
            </a:r>
          </a:p>
        </p:txBody>
      </p:sp>
      <p:sp>
        <p:nvSpPr>
          <p:cNvPr id="81" name="Oval 80"/>
          <p:cNvSpPr/>
          <p:nvPr/>
        </p:nvSpPr>
        <p:spPr>
          <a:xfrm>
            <a:off x="365760" y="109728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60120" y="1097280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0B1F3A"/>
                </a:solidFill>
                <a:latin typeface="Arial"/>
              </a:rPr>
              <a:t>Command Center: live KPIs and precision versus the rules baseline</a:t>
            </a:r>
          </a:p>
        </p:txBody>
      </p:sp>
      <p:sp>
        <p:nvSpPr>
          <p:cNvPr id="83" name="Oval 82"/>
          <p:cNvSpPr/>
          <p:nvPr/>
        </p:nvSpPr>
        <p:spPr>
          <a:xfrm>
            <a:off x="365760" y="1828800"/>
            <a:ext cx="457200" cy="457200"/>
          </a:xfrm>
          <a:prstGeom prst="ellipse">
            <a:avLst/>
          </a:prstGeom>
          <a:solidFill>
            <a:srgbClr val="1A9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60120" y="1828800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0B1F3A"/>
                </a:solidFill>
                <a:latin typeface="Arial"/>
              </a:rPr>
              <a:t>Inject a live mule-ring attack, then run the detection pipeline</a:t>
            </a:r>
          </a:p>
        </p:txBody>
      </p:sp>
      <p:sp>
        <p:nvSpPr>
          <p:cNvPr id="85" name="Oval 84"/>
          <p:cNvSpPr/>
          <p:nvPr/>
        </p:nvSpPr>
        <p:spPr>
          <a:xfrm>
            <a:off x="365760" y="256032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60120" y="2560320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0B1F3A"/>
                </a:solidFill>
                <a:latin typeface="Arial"/>
              </a:rPr>
              <a:t>Investigation: ring network graph, money timeline and AI findings</a:t>
            </a:r>
          </a:p>
        </p:txBody>
      </p:sp>
      <p:sp>
        <p:nvSpPr>
          <p:cNvPr id="87" name="Oval 86"/>
          <p:cNvSpPr/>
          <p:nvPr/>
        </p:nvSpPr>
        <p:spPr>
          <a:xfrm>
            <a:off x="365760" y="3291840"/>
            <a:ext cx="457200" cy="457200"/>
          </a:xfrm>
          <a:prstGeom prst="ellipse">
            <a:avLst/>
          </a:prstGeom>
          <a:solidFill>
            <a:srgbClr val="1A9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60120" y="3291840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0B1F3A"/>
                </a:solidFill>
                <a:latin typeface="Arial"/>
              </a:rPr>
              <a:t>Draft the STR with policy citations, edit it, and approve</a:t>
            </a:r>
          </a:p>
        </p:txBody>
      </p:sp>
      <p:sp>
        <p:nvSpPr>
          <p:cNvPr id="89" name="Oval 88"/>
          <p:cNvSpPr/>
          <p:nvPr/>
        </p:nvSpPr>
        <p:spPr>
          <a:xfrm>
            <a:off x="365760" y="402336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60120" y="4023360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0B1F3A"/>
                </a:solidFill>
                <a:latin typeface="Arial"/>
              </a:rPr>
              <a:t>Ask MuleWatch: the copilot answers on cases, rings and policy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892040" y="1097280"/>
            <a:ext cx="3886200" cy="36576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5120640" y="123444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1A9FD6"/>
                </a:solidFill>
                <a:latin typeface="Arial"/>
              </a:rPr>
              <a:t>LINKS</a:t>
            </a:r>
          </a:p>
        </p:txBody>
      </p:sp>
      <p:sp>
        <p:nvSpPr>
          <p:cNvPr id="93" name="Oval 92"/>
          <p:cNvSpPr/>
          <p:nvPr/>
        </p:nvSpPr>
        <p:spPr>
          <a:xfrm>
            <a:off x="5120640" y="1600200"/>
            <a:ext cx="411480" cy="411480"/>
          </a:xfrm>
          <a:prstGeom prst="ellipse">
            <a:avLst/>
          </a:prstGeom>
          <a:solidFill>
            <a:srgbClr val="1A9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4" name="Picture 93" descr="LuGithu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9395" y="1698955"/>
            <a:ext cx="213969" cy="213969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5669280" y="1572768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Public GitHub repository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9FDBF5"/>
                </a:solidFill>
                <a:latin typeface="Arial"/>
                <a:hlinkClick r:id="rId5"/>
              </a:rPr>
              <a:t>github.com/Gowtham619/mulewatch</a:t>
            </a:r>
          </a:p>
        </p:txBody>
      </p:sp>
      <p:sp>
        <p:nvSpPr>
          <p:cNvPr id="96" name="Oval 95"/>
          <p:cNvSpPr/>
          <p:nvPr/>
        </p:nvSpPr>
        <p:spPr>
          <a:xfrm>
            <a:off x="5120640" y="2331720"/>
            <a:ext cx="411480" cy="411480"/>
          </a:xfrm>
          <a:prstGeom prst="ellipse">
            <a:avLst/>
          </a:prstGeom>
          <a:solidFill>
            <a:srgbClr val="1A9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7" name="Picture 96" descr="LuPl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9395" y="2430475"/>
            <a:ext cx="213969" cy="213969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5669280" y="2304288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Deployed app (Streamlit in Snowflake)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9FDBF5"/>
                </a:solidFill>
                <a:latin typeface="Arial"/>
                <a:hlinkClick r:id="rId7"/>
              </a:rPr>
              <a:t>Open MULEWATCH_APP in Snowsight</a:t>
            </a:r>
          </a:p>
        </p:txBody>
      </p:sp>
      <p:sp>
        <p:nvSpPr>
          <p:cNvPr id="99" name="Oval 98"/>
          <p:cNvSpPr/>
          <p:nvPr/>
        </p:nvSpPr>
        <p:spPr>
          <a:xfrm>
            <a:off x="5120640" y="3108960"/>
            <a:ext cx="411480" cy="411480"/>
          </a:xfrm>
          <a:prstGeom prst="ellipse">
            <a:avLst/>
          </a:prstGeom>
          <a:solidFill>
            <a:srgbClr val="1A9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0" name="Picture 99" descr="LuDataba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9395" y="3207715"/>
            <a:ext cx="213969" cy="213969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5669280" y="3081528"/>
            <a:ext cx="2971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Snowflake features used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Dynamic Tables, Snowpark, Model Registry, Cortex AI functions, Cortex Search, Semantic Views, Cortex Agents, Tasks, Streamlit, Horizon masking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timer 1 min cowsswedededexeco cli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